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878" r:id="rId2"/>
  </p:sldMasterIdLst>
  <p:notesMasterIdLst>
    <p:notesMasterId r:id="rId11"/>
  </p:notesMasterIdLst>
  <p:sldIdLst>
    <p:sldId id="256" r:id="rId3"/>
    <p:sldId id="259" r:id="rId4"/>
    <p:sldId id="280" r:id="rId5"/>
    <p:sldId id="283" r:id="rId6"/>
    <p:sldId id="284" r:id="rId7"/>
    <p:sldId id="282" r:id="rId8"/>
    <p:sldId id="281" r:id="rId9"/>
    <p:sldId id="275" r:id="rId10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CC"/>
    <a:srgbClr val="99CCFF"/>
    <a:srgbClr val="FFFFCC"/>
    <a:srgbClr val="9999FF"/>
    <a:srgbClr val="6699FF"/>
    <a:srgbClr val="6666FF"/>
    <a:srgbClr val="CC00CC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072" autoAdjust="0"/>
  </p:normalViewPr>
  <p:slideViewPr>
    <p:cSldViewPr>
      <p:cViewPr varScale="1">
        <p:scale>
          <a:sx n="107" d="100"/>
          <a:sy n="107" d="100"/>
        </p:scale>
        <p:origin x="1482" y="96"/>
      </p:cViewPr>
      <p:guideLst>
        <p:guide orient="horz" pos="2160"/>
        <p:guide pos="312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ja-JP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ja-JP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52500" y="685800"/>
            <a:ext cx="4953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ja-JP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2FB8BCB-583C-4601-9BCD-CDF161DA39F7}" type="slidenum">
              <a:rPr lang="ja-JP" altLang="en-US"/>
              <a:pPr/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明朝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明朝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明朝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明朝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ＭＳ Ｐ明朝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B8BCB-583C-4601-9BCD-CDF161DA39F7}" type="slidenum">
              <a:rPr lang="ja-JP" altLang="en-US" smtClean="0"/>
              <a:pPr/>
              <a:t>1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6471556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5000" baseline="0" dirty="0"/>
              <a:t>以下是我的個人簡歷</a:t>
            </a:r>
            <a:endParaRPr lang="en-US" altLang="zh-TW" sz="5000" baseline="0" dirty="0"/>
          </a:p>
          <a:p>
            <a:r>
              <a:rPr lang="en-US" altLang="zh-TW" sz="5000" baseline="0" dirty="0"/>
              <a:t>Here’s a quick intro about me.</a:t>
            </a:r>
          </a:p>
          <a:p>
            <a:r>
              <a:rPr lang="zh-TW" altLang="en-US" sz="5000" baseline="0" dirty="0"/>
              <a:t>我叫廖元獅，今年</a:t>
            </a:r>
            <a:r>
              <a:rPr lang="en-US" altLang="zh-TW" sz="5000" baseline="0" dirty="0"/>
              <a:t>38</a:t>
            </a:r>
            <a:r>
              <a:rPr lang="zh-TW" altLang="en-US" sz="5000" baseline="0" dirty="0"/>
              <a:t>歲，就學期間一直名列前茅</a:t>
            </a:r>
            <a:endParaRPr lang="en-US" altLang="zh-TW" sz="5000" baseline="0" dirty="0"/>
          </a:p>
          <a:p>
            <a:r>
              <a:rPr lang="en-US" altLang="zh-TW" sz="5000" baseline="0" dirty="0"/>
              <a:t>My name is Yuan-Shih Liao, I’m 38 years old. I’ve always done well academically</a:t>
            </a:r>
          </a:p>
          <a:p>
            <a:r>
              <a:rPr lang="zh-TW" altLang="en-US" sz="5000" baseline="0" dirty="0"/>
              <a:t>國中第一名畢業；高中第四名畢業，獲模範生；</a:t>
            </a:r>
            <a:endParaRPr lang="en-US" altLang="zh-TW" sz="5000" baseline="0" dirty="0"/>
          </a:p>
          <a:p>
            <a:r>
              <a:rPr lang="en-US" altLang="zh-TW" sz="5000" baseline="0" dirty="0"/>
              <a:t>No.1 in junior high school, 4th in senior high school and was awarded Model Student. </a:t>
            </a:r>
          </a:p>
          <a:p>
            <a:r>
              <a:rPr lang="zh-TW" altLang="en-US" sz="5000" baseline="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國立台灣海洋大學學士第十名畢業，任排球系隊隊長；碩士第三名畢業</a:t>
            </a:r>
            <a:endParaRPr lang="en-US" altLang="zh-TW" sz="5000" baseline="0"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5000" baseline="0" dirty="0"/>
              <a:t>from National Taiwan Ocean University, I’m 10th in bachelor’s degree, and served as the captain of the volleyball team, and 3rd in master’s degree.</a:t>
            </a:r>
            <a:endParaRPr lang="en-US" altLang="zh-TW" sz="5000" baseline="0"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 marL="0" indent="0" algn="l">
              <a:buFont typeface="Arial" panose="020B0604020202020204" pitchFamily="34" charset="0"/>
              <a:buNone/>
            </a:pPr>
            <a:r>
              <a:rPr lang="zh-TW" altLang="en-US" sz="5000" baseline="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機構與結構分析工作經歷</a:t>
            </a:r>
            <a:r>
              <a:rPr lang="en-US" altLang="zh-TW" sz="5000" baseline="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:</a:t>
            </a:r>
            <a:r>
              <a:rPr lang="zh-TW" altLang="en-US" sz="5000" baseline="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十一年，</a:t>
            </a:r>
            <a:r>
              <a:rPr lang="en-US" altLang="zh-TW" sz="5000" baseline="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TOEIC:600</a:t>
            </a:r>
          </a:p>
          <a:p>
            <a:pPr marL="0" indent="0" algn="l">
              <a:buFont typeface="Arial" panose="020B0604020202020204" pitchFamily="34" charset="0"/>
              <a:buNone/>
            </a:pPr>
            <a:r>
              <a:rPr lang="en-US" altLang="zh-TW" sz="5000" baseline="0" dirty="0"/>
              <a:t>I have 11 years of experience in mechanical and structural analysis.</a:t>
            </a:r>
            <a:br>
              <a:rPr lang="en-US" altLang="zh-TW" sz="5000" baseline="0" dirty="0"/>
            </a:br>
            <a:r>
              <a:rPr lang="en-US" altLang="zh-TW" sz="5000" baseline="0" dirty="0"/>
              <a:t>TOEIC score: 600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TW" altLang="en-US" sz="54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專長</a:t>
            </a:r>
            <a:r>
              <a:rPr lang="zh-TW" altLang="en-US" sz="54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資料</a:t>
            </a:r>
            <a:r>
              <a:rPr lang="zh-TW" altLang="en-US" sz="54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分析軟體</a:t>
            </a:r>
            <a:r>
              <a:rPr lang="en-US" altLang="zh-TW" sz="54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:</a:t>
            </a:r>
            <a:r>
              <a:rPr lang="zh-TW" altLang="en-US" sz="54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 </a:t>
            </a:r>
            <a:r>
              <a:rPr lang="en-US" altLang="zh-TW" sz="54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Python, Pandas, VS Code, Git/GitHub, MySQL, Streamlit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TW" sz="5000" baseline="0" dirty="0"/>
              <a:t>For data analysis software like </a:t>
            </a:r>
            <a:r>
              <a:rPr lang="en-US" altLang="zh-TW" sz="48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Python, Pandas, VS Code, Git/GitHub, MySQL, Streamlit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TW" altLang="en-US" sz="5000" baseline="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專長繪圖軟體</a:t>
            </a:r>
            <a:r>
              <a:rPr lang="en-US" altLang="zh-TW" sz="5000" baseline="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:</a:t>
            </a:r>
            <a:r>
              <a:rPr lang="zh-TW" altLang="en-US" sz="5000" baseline="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 </a:t>
            </a:r>
            <a:r>
              <a:rPr lang="en-US" altLang="zh-TW" sz="5000" b="1" baseline="0" dirty="0" err="1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AutoCad</a:t>
            </a:r>
            <a:r>
              <a:rPr lang="en-US" altLang="zh-TW" sz="5000" b="1" baseline="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, Pro/E</a:t>
            </a:r>
            <a:r>
              <a:rPr lang="en-US" altLang="zh-TW" sz="5000" baseline="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, Creo, Solid works..</a:t>
            </a:r>
          </a:p>
          <a:p>
            <a:pPr marL="0" indent="0" algn="l">
              <a:buFont typeface="Arial" panose="020B0604020202020204" pitchFamily="34" charset="0"/>
              <a:buNone/>
            </a:pPr>
            <a:r>
              <a:rPr lang="en-US" altLang="zh-TW" sz="5000" baseline="0" dirty="0"/>
              <a:t>For CAD software like AutoCAD, Pro/E, Creo, and SolidWorks.</a:t>
            </a:r>
            <a:endParaRPr lang="en-US" altLang="zh-TW" sz="5000" baseline="0"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 marL="0" indent="0" algn="l">
              <a:buFont typeface="Arial" panose="020B0604020202020204" pitchFamily="34" charset="0"/>
              <a:buNone/>
            </a:pPr>
            <a:r>
              <a:rPr lang="zh-TW" altLang="en-US" sz="5000" baseline="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專長分析軟體</a:t>
            </a:r>
            <a:r>
              <a:rPr lang="en-US" altLang="zh-TW" sz="5000" baseline="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:</a:t>
            </a:r>
            <a:r>
              <a:rPr lang="zh-TW" altLang="en-US" sz="5000" baseline="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 </a:t>
            </a:r>
            <a:r>
              <a:rPr lang="en-US" altLang="zh-TW" sz="5000" b="1" baseline="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Ansys, Abaqus</a:t>
            </a:r>
            <a:r>
              <a:rPr lang="en-US" altLang="zh-TW" sz="5000" baseline="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, Maxwell, COMSOL, CFD ACE…</a:t>
            </a:r>
          </a:p>
          <a:p>
            <a:pPr marL="0" indent="0" algn="l">
              <a:buFont typeface="Arial" panose="020B0604020202020204" pitchFamily="34" charset="0"/>
              <a:buNone/>
            </a:pPr>
            <a:r>
              <a:rPr lang="en-US" altLang="zh-TW" sz="5000" baseline="0" dirty="0"/>
              <a:t>For analysis, I use Ansys, Abaqus, Maxwell, COMSOL, and CFD ACE.</a:t>
            </a:r>
            <a:endParaRPr lang="en-US" altLang="zh-TW" sz="5000" baseline="0"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 marL="0" indent="0" algn="l">
              <a:buFont typeface="Arial" panose="020B0604020202020204" pitchFamily="34" charset="0"/>
              <a:buNone/>
            </a:pPr>
            <a:r>
              <a:rPr lang="zh-TW" altLang="en-US" sz="5000" baseline="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專長程式語言</a:t>
            </a:r>
            <a:r>
              <a:rPr lang="en-US" altLang="zh-TW" sz="5000" baseline="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:</a:t>
            </a:r>
            <a:r>
              <a:rPr lang="zh-TW" altLang="en-US" sz="5000" baseline="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 </a:t>
            </a:r>
            <a:r>
              <a:rPr lang="en-US" altLang="zh-TW" sz="5000" baseline="0" dirty="0" err="1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Matlab</a:t>
            </a:r>
            <a:r>
              <a:rPr lang="en-US" altLang="zh-TW" sz="5000" baseline="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 , 8051</a:t>
            </a:r>
            <a:r>
              <a:rPr lang="zh-TW" altLang="en-US" sz="5000" baseline="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單晶片</a:t>
            </a:r>
            <a:r>
              <a:rPr lang="en-US" altLang="zh-TW" sz="5000" baseline="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, LabView…</a:t>
            </a:r>
          </a:p>
          <a:p>
            <a:pPr marL="0" indent="0" algn="l">
              <a:buFont typeface="Arial" panose="020B0604020202020204" pitchFamily="34" charset="0"/>
              <a:buNone/>
            </a:pPr>
            <a:r>
              <a:rPr lang="en-US" altLang="zh-TW" sz="5000" baseline="0" dirty="0"/>
              <a:t>I’m also familiar with programming tools like Python, </a:t>
            </a:r>
            <a:r>
              <a:rPr lang="en-US" altLang="zh-TW" sz="5000" baseline="0" dirty="0" err="1"/>
              <a:t>Matlab</a:t>
            </a:r>
            <a:r>
              <a:rPr lang="en-US" altLang="zh-TW" sz="5000" baseline="0" dirty="0"/>
              <a:t>, 8051 microcontroller, and LabVIEW.</a:t>
            </a:r>
            <a:endParaRPr lang="zh-TW" altLang="en-US" sz="5000" baseline="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B8BCB-583C-4601-9BCD-CDF161DA39F7}" type="slidenum">
              <a:rPr lang="ja-JP" altLang="en-US" smtClean="0"/>
              <a:pPr/>
              <a:t>2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3563843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1" dirty="0"/>
              <a:t>版本控制與系統概觀</a:t>
            </a:r>
            <a:endParaRPr lang="zh-TW" altLang="en-US" dirty="0"/>
          </a:p>
          <a:p>
            <a:r>
              <a:rPr lang="zh-TW" altLang="en-US" dirty="0"/>
              <a:t>採用 </a:t>
            </a:r>
            <a:r>
              <a:rPr lang="en-US" altLang="zh-TW" b="1" dirty="0"/>
              <a:t>Git / GitHub</a:t>
            </a:r>
            <a:r>
              <a:rPr lang="zh-TW" altLang="en-US" dirty="0"/>
              <a:t> 進行全代碼版本管理與協作。</a:t>
            </a:r>
          </a:p>
          <a:p>
            <a:r>
              <a:rPr lang="zh-TW" altLang="en-US" b="1" dirty="0"/>
              <a:t>作品主題：</a:t>
            </a:r>
            <a:r>
              <a:rPr lang="zh-TW" altLang="en-US" dirty="0"/>
              <a:t> </a:t>
            </a:r>
            <a:r>
              <a:rPr lang="en-US" altLang="zh-TW" dirty="0"/>
              <a:t>[</a:t>
            </a:r>
            <a:r>
              <a:rPr lang="zh-TW" altLang="en-US" dirty="0"/>
              <a:t>智慧工業零件庫存監控系統</a:t>
            </a:r>
            <a:r>
              <a:rPr lang="en-US" altLang="zh-TW" dirty="0"/>
              <a:t>]</a:t>
            </a:r>
          </a:p>
          <a:p>
            <a:r>
              <a:rPr lang="en-US" altLang="zh-TW" dirty="0"/>
              <a:t>[GitHub </a:t>
            </a:r>
            <a:r>
              <a:rPr lang="zh-TW" altLang="en-US" dirty="0"/>
              <a:t>連結 </a:t>
            </a:r>
            <a:r>
              <a:rPr lang="en-US" altLang="zh-TW" dirty="0"/>
              <a:t>QR Code </a:t>
            </a:r>
            <a:r>
              <a:rPr lang="zh-TW" altLang="en-US" dirty="0"/>
              <a:t>或 超連結</a:t>
            </a:r>
            <a:r>
              <a:rPr lang="en-US" altLang="zh-TW" dirty="0"/>
              <a:t>]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B8BCB-583C-4601-9BCD-CDF161DA39F7}" type="slidenum">
              <a:rPr lang="ja-JP" altLang="en-US" smtClean="0"/>
              <a:pPr/>
              <a:t>3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5954034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F7653-61D6-4B0A-4FD6-CC7134F0C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ADEE533-6BF0-5981-5CE8-3CA88D48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2E4EA69-40D5-C039-F14D-68FA887C0C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1" dirty="0"/>
              <a:t>系統架構：全棧數據管線 </a:t>
            </a:r>
            <a:r>
              <a:rPr lang="en-US" altLang="zh-TW" b="1" dirty="0"/>
              <a:t>(Data Pipeline)</a:t>
            </a:r>
            <a:endParaRPr lang="zh-TW" altLang="en-US" dirty="0"/>
          </a:p>
          <a:p>
            <a:r>
              <a:rPr lang="zh-TW" altLang="en-US" b="1" dirty="0"/>
              <a:t>架構：</a:t>
            </a:r>
            <a:r>
              <a:rPr lang="zh-TW" altLang="en-US" dirty="0"/>
              <a:t> 採用</a:t>
            </a:r>
            <a:r>
              <a:rPr lang="zh-TW" altLang="en-US" b="1" dirty="0"/>
              <a:t>前後端分離架構</a:t>
            </a:r>
            <a:r>
              <a:rPr lang="zh-TW" altLang="en-US" dirty="0"/>
              <a:t>，確保系統具備高度擴展性。</a:t>
            </a:r>
          </a:p>
          <a:p>
            <a:r>
              <a:rPr lang="zh-TW" altLang="en-US" b="1" dirty="0"/>
              <a:t>後端：</a:t>
            </a:r>
            <a:r>
              <a:rPr lang="zh-TW" altLang="en-US" dirty="0"/>
              <a:t> 使用 </a:t>
            </a:r>
            <a:r>
              <a:rPr lang="en-US" altLang="zh-TW" b="1" dirty="0"/>
              <a:t>FastAPI</a:t>
            </a:r>
            <a:r>
              <a:rPr lang="zh-TW" altLang="en-US" dirty="0"/>
              <a:t> 構建高性能 </a:t>
            </a:r>
            <a:r>
              <a:rPr lang="en-US" altLang="zh-TW" dirty="0"/>
              <a:t>RESTful API</a:t>
            </a:r>
            <a:r>
              <a:rPr lang="zh-TW" altLang="en-US" dirty="0"/>
              <a:t>，負責邏輯處理與數據調用。</a:t>
            </a:r>
          </a:p>
          <a:p>
            <a:r>
              <a:rPr lang="zh-TW" altLang="en-US" b="1" dirty="0"/>
              <a:t>數據：</a:t>
            </a:r>
            <a:r>
              <a:rPr lang="zh-TW" altLang="en-US" dirty="0"/>
              <a:t> 結合 </a:t>
            </a:r>
            <a:r>
              <a:rPr lang="en-US" altLang="zh-TW" b="1" dirty="0"/>
              <a:t>MySQL</a:t>
            </a:r>
            <a:r>
              <a:rPr lang="zh-TW" altLang="en-US" dirty="0"/>
              <a:t> 資料庫，實踐工業級數據的結構化存儲與檢索。</a:t>
            </a:r>
          </a:p>
          <a:p>
            <a:r>
              <a:rPr lang="zh-TW" altLang="en-US" b="1" dirty="0"/>
              <a:t>前端：</a:t>
            </a:r>
            <a:r>
              <a:rPr lang="zh-TW" altLang="en-US" dirty="0"/>
              <a:t> 以 </a:t>
            </a:r>
            <a:r>
              <a:rPr lang="en-US" altLang="zh-TW" b="1" dirty="0"/>
              <a:t>Streamlit</a:t>
            </a:r>
            <a:r>
              <a:rPr lang="zh-TW" altLang="en-US" dirty="0"/>
              <a:t> 快速部署互動式儀表板，提升決策效率。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6707BBC-04FC-CA62-F97C-46A6B1E250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B8BCB-583C-4601-9BCD-CDF161DA39F7}" type="slidenum">
              <a:rPr lang="ja-JP" altLang="en-US" smtClean="0"/>
              <a:pPr/>
              <a:t>4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2593860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C5565-65CA-007B-0D20-B61BDBBF1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E22B585-25C2-80F1-8C51-33F3FC31C2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ADB4866-D95B-04B5-B426-2C8AD45045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1" dirty="0"/>
              <a:t>即時視覺化決策儀表板</a:t>
            </a:r>
            <a:endParaRPr lang="zh-TW" altLang="en-US" dirty="0"/>
          </a:p>
          <a:p>
            <a:r>
              <a:rPr lang="zh-TW" altLang="en-US" b="1" dirty="0"/>
              <a:t>快速佈署：</a:t>
            </a:r>
            <a:r>
              <a:rPr lang="zh-TW" altLang="en-US" dirty="0"/>
              <a:t> 透過 </a:t>
            </a:r>
            <a:r>
              <a:rPr lang="en-US" altLang="zh-TW" dirty="0"/>
              <a:t>Streamlit </a:t>
            </a:r>
            <a:r>
              <a:rPr lang="zh-TW" altLang="en-US" dirty="0"/>
              <a:t>實踐數據敏捷開發。</a:t>
            </a:r>
          </a:p>
          <a:p>
            <a:r>
              <a:rPr lang="zh-TW" altLang="en-US" b="1" dirty="0"/>
              <a:t>互動邏輯：</a:t>
            </a:r>
            <a:r>
              <a:rPr lang="zh-TW" altLang="en-US" dirty="0"/>
              <a:t> 整合側邊欄過濾功能（如：金額篩選、設備類別），實現精準的資產管理。</a:t>
            </a:r>
          </a:p>
          <a:p>
            <a:r>
              <a:rPr lang="zh-TW" altLang="en-US" b="1" dirty="0"/>
              <a:t>目標：</a:t>
            </a:r>
            <a:r>
              <a:rPr lang="zh-TW" altLang="en-US" dirty="0"/>
              <a:t> 減少人工報表整理時間，讓管理者能即時掌握高單價設備庫存狀態。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1957CCD-2CBF-2970-4F5A-132E1B04B0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B8BCB-583C-4601-9BCD-CDF161DA39F7}" type="slidenum">
              <a:rPr lang="ja-JP" altLang="en-US" smtClean="0"/>
              <a:pPr/>
              <a:t>5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5730334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D7462-A6ED-5D34-5D0F-4305856FB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427D671-4995-B00F-0154-7F598D14BB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3285D47-15F1-E649-5EB1-0D69C1FF8E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使用</a:t>
            </a:r>
            <a:r>
              <a:rPr lang="en-US" altLang="zh-TW" dirty="0"/>
              <a:t>CREO</a:t>
            </a:r>
            <a:r>
              <a:rPr lang="zh-TW" altLang="en-US" dirty="0"/>
              <a:t>以骨架模型建立產品的各個部品</a:t>
            </a:r>
            <a:endParaRPr lang="en-US" altLang="zh-TW" dirty="0"/>
          </a:p>
          <a:p>
            <a:r>
              <a:rPr lang="en-US" altLang="zh-TW" dirty="0"/>
              <a:t>Used CREO skeleton modeling to build product components,</a:t>
            </a:r>
          </a:p>
          <a:p>
            <a:r>
              <a:rPr lang="zh-TW" altLang="en-US" dirty="0"/>
              <a:t>可以快速的對應客戶的設計變更</a:t>
            </a:r>
            <a:endParaRPr lang="en-US" altLang="zh-TW" dirty="0"/>
          </a:p>
          <a:p>
            <a:r>
              <a:rPr lang="en-US" altLang="zh-TW" dirty="0"/>
              <a:t>which enabling quick adaptation to customer design changes.</a:t>
            </a:r>
          </a:p>
          <a:p>
            <a:r>
              <a:rPr lang="zh-TW" altLang="en-US" dirty="0"/>
              <a:t>所設計的產品有電池模組、音圈馬達、鈑金件、</a:t>
            </a:r>
            <a:r>
              <a:rPr lang="en-US" altLang="zh-TW" dirty="0"/>
              <a:t>FPC</a:t>
            </a:r>
            <a:r>
              <a:rPr lang="zh-TW" altLang="en-US" dirty="0"/>
              <a:t>、與</a:t>
            </a:r>
            <a:r>
              <a:rPr lang="en-US" altLang="zh-TW" dirty="0"/>
              <a:t>Cable Connector</a:t>
            </a:r>
            <a:br>
              <a:rPr lang="en-US" altLang="zh-TW" dirty="0"/>
            </a:br>
            <a:r>
              <a:rPr lang="en-US" altLang="zh-TW" dirty="0"/>
              <a:t>My designed products including battery modules, voice coil motors, sheet metal parts, FPCs, and cable connectors.</a:t>
            </a:r>
            <a:br>
              <a:rPr lang="en-US" altLang="zh-TW" dirty="0"/>
            </a:br>
            <a:r>
              <a:rPr lang="zh-TW" altLang="en-US" dirty="0"/>
              <a:t>所有產品都順利量產並且零</a:t>
            </a:r>
            <a:r>
              <a:rPr lang="en-US" altLang="zh-TW" dirty="0"/>
              <a:t>BUG</a:t>
            </a:r>
          </a:p>
          <a:p>
            <a:r>
              <a:rPr lang="en-US" altLang="zh-TW" dirty="0"/>
              <a:t>All products were successfully mass-produced with zero BUGs.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D66036F-5BDF-F5CD-2736-9D72C72C5A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B8BCB-583C-4601-9BCD-CDF161DA39F7}" type="slidenum">
              <a:rPr lang="ja-JP" altLang="en-US" smtClean="0"/>
              <a:pPr/>
              <a:t>6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7463679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在設計產品期間，常以以下工具輔助設計與製作</a:t>
            </a:r>
            <a:endParaRPr lang="en-US" altLang="zh-TW" dirty="0"/>
          </a:p>
          <a:p>
            <a:r>
              <a:rPr lang="en-US" altLang="zh-TW" dirty="0"/>
              <a:t>During product design, frequently utilized the following tools to support design and development.</a:t>
            </a:r>
          </a:p>
          <a:p>
            <a:r>
              <a:rPr lang="zh-TW" altLang="en-US" dirty="0"/>
              <a:t>使用</a:t>
            </a:r>
            <a:r>
              <a:rPr lang="en-US" altLang="zh-TW" dirty="0"/>
              <a:t>ANSYS</a:t>
            </a:r>
            <a:r>
              <a:rPr lang="zh-TW" altLang="en-US" dirty="0"/>
              <a:t>模擬在受力時的結構最弱點進行改善</a:t>
            </a:r>
            <a:endParaRPr lang="en-US" altLang="zh-TW" dirty="0"/>
          </a:p>
          <a:p>
            <a:r>
              <a:rPr lang="en-US" altLang="zh-TW" dirty="0"/>
              <a:t>I run structural simulations in ANSYS to identify and improve weak points under stress</a:t>
            </a:r>
          </a:p>
          <a:p>
            <a:r>
              <a:rPr lang="zh-TW" altLang="en-US" dirty="0"/>
              <a:t>或是以</a:t>
            </a:r>
            <a:r>
              <a:rPr lang="en-US" altLang="zh-TW" dirty="0"/>
              <a:t>ABAQUS</a:t>
            </a:r>
            <a:r>
              <a:rPr lang="zh-TW" altLang="en-US" dirty="0"/>
              <a:t>進行落下模擬</a:t>
            </a:r>
            <a:endParaRPr lang="en-US" altLang="zh-TW" dirty="0"/>
          </a:p>
          <a:p>
            <a:r>
              <a:rPr lang="en-US" altLang="zh-TW" dirty="0"/>
              <a:t>and also perform drop simulations using ABAQUS.</a:t>
            </a:r>
          </a:p>
          <a:p>
            <a:r>
              <a:rPr lang="zh-TW" altLang="en-US" dirty="0"/>
              <a:t>最後以</a:t>
            </a:r>
            <a:r>
              <a:rPr lang="en-US" altLang="zh-TW" dirty="0"/>
              <a:t>AutoCAD</a:t>
            </a:r>
            <a:r>
              <a:rPr lang="zh-TW" altLang="en-US" dirty="0"/>
              <a:t>輸出</a:t>
            </a:r>
            <a:r>
              <a:rPr lang="en-US" altLang="zh-TW" dirty="0"/>
              <a:t>2D</a:t>
            </a:r>
            <a:r>
              <a:rPr lang="zh-TW" altLang="en-US" dirty="0"/>
              <a:t>圖面，讓工廠製作並量測尺寸</a:t>
            </a:r>
            <a:endParaRPr lang="en-US" altLang="zh-TW" dirty="0"/>
          </a:p>
          <a:p>
            <a:r>
              <a:rPr lang="en-US" altLang="zh-TW" dirty="0"/>
              <a:t>Finally, output 2D drawings with AutoCAD for factory production and dimension measurement.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B8BCB-583C-4601-9BCD-CDF161DA39F7}" type="slidenum">
              <a:rPr lang="ja-JP" altLang="en-US" smtClean="0"/>
              <a:pPr/>
              <a:t>7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6956452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論文的部分是建立一個微幫浦系統</a:t>
            </a:r>
            <a:endParaRPr lang="en-US" altLang="zh-TW" dirty="0"/>
          </a:p>
          <a:p>
            <a:r>
              <a:rPr lang="en-US" altLang="zh-TW" dirty="0"/>
              <a:t>My thesis focused on developing a micro-pump system.</a:t>
            </a:r>
          </a:p>
          <a:p>
            <a:r>
              <a:rPr lang="zh-TW" altLang="en-US" dirty="0"/>
              <a:t>以</a:t>
            </a:r>
            <a:r>
              <a:rPr lang="en-US" altLang="zh-TW" dirty="0"/>
              <a:t>COMSOL</a:t>
            </a:r>
            <a:r>
              <a:rPr lang="zh-TW" altLang="en-US" dirty="0"/>
              <a:t>模擬流場、並且分層製作微晶片並且組裝，</a:t>
            </a:r>
            <a:endParaRPr lang="en-US" altLang="zh-TW" dirty="0"/>
          </a:p>
          <a:p>
            <a:r>
              <a:rPr lang="en-US" altLang="zh-TW" dirty="0"/>
              <a:t>I used COMSOL to simulate the fluid flow, then fabricated the microchip layer by layer and assembled the system.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到最後撰寫程式並且組裝、量測數據</a:t>
            </a:r>
            <a:endParaRPr lang="en-US" altLang="zh-TW" dirty="0"/>
          </a:p>
          <a:p>
            <a:r>
              <a:rPr lang="en-US" altLang="zh-TW" dirty="0"/>
              <a:t>I also wrote the control program and conducted performance measurements.</a:t>
            </a:r>
          </a:p>
          <a:p>
            <a:r>
              <a:rPr lang="zh-TW" altLang="en-US" dirty="0"/>
              <a:t>最後論文完成後即順利畢業</a:t>
            </a:r>
            <a:endParaRPr lang="en-US" altLang="zh-TW" dirty="0"/>
          </a:p>
          <a:p>
            <a:r>
              <a:rPr lang="en-US" altLang="zh-TW" dirty="0"/>
              <a:t>After completing the research and writing, I successfully graduated.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FB8BCB-583C-4601-9BCD-CDF161DA39F7}" type="slidenum">
              <a:rPr lang="ja-JP" altLang="en-US" smtClean="0"/>
              <a:pPr/>
              <a:t>8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934614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8250" y="1124530"/>
            <a:ext cx="7429500" cy="2387600"/>
          </a:xfrm>
        </p:spPr>
        <p:txBody>
          <a:bodyPr anchor="b">
            <a:normAutofit/>
          </a:bodyPr>
          <a:lstStyle>
            <a:lvl1pPr algn="ctr">
              <a:defRPr sz="4875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9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71475" indent="0" algn="ctr">
              <a:buNone/>
              <a:defRPr sz="2275"/>
            </a:lvl2pPr>
            <a:lvl3pPr marL="742950" indent="0" algn="ctr">
              <a:buNone/>
              <a:defRPr sz="1950"/>
            </a:lvl3pPr>
            <a:lvl4pPr marL="1114425" indent="0" algn="ctr">
              <a:buNone/>
              <a:defRPr sz="1625"/>
            </a:lvl4pPr>
            <a:lvl5pPr marL="1485900" indent="0" algn="ctr">
              <a:buNone/>
              <a:defRPr sz="1625"/>
            </a:lvl5pPr>
            <a:lvl6pPr marL="1857375" indent="0" algn="ctr">
              <a:buNone/>
              <a:defRPr sz="1625"/>
            </a:lvl6pPr>
            <a:lvl7pPr marL="2228850" indent="0" algn="ctr">
              <a:buNone/>
              <a:defRPr sz="1625"/>
            </a:lvl7pPr>
            <a:lvl8pPr marL="2600325" indent="0" algn="ctr">
              <a:buNone/>
              <a:defRPr sz="1625"/>
            </a:lvl8pPr>
            <a:lvl9pPr marL="2971800" indent="0" algn="ctr">
              <a:buNone/>
              <a:defRPr sz="1625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ja-JP" altLang="en-US"/>
              <a:t>2004/08/17</a:t>
            </a:r>
            <a:endParaRPr lang="en-US" altLang="ja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ja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D8AE0-085F-4C09-B76D-E3BD1837E582}" type="slidenum">
              <a:rPr lang="ja-JP" altLang="en-US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215429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ja-JP" altLang="en-US"/>
              <a:t>2004/08/17</a:t>
            </a:r>
            <a:endParaRPr lang="en-US" altLang="ja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ja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6AEAF-D138-4B65-B1A6-B45D0ABB536E}" type="slidenum">
              <a:rPr lang="ja-JP" altLang="en-US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694270506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8" y="1712423"/>
            <a:ext cx="8543925" cy="2851208"/>
          </a:xfrm>
        </p:spPr>
        <p:txBody>
          <a:bodyPr anchor="b">
            <a:normAutofit/>
          </a:bodyPr>
          <a:lstStyle>
            <a:lvl1pPr>
              <a:defRPr sz="4875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8" y="4552634"/>
            <a:ext cx="8543925" cy="1500187"/>
          </a:xfrm>
        </p:spPr>
        <p:txBody>
          <a:bodyPr anchor="t">
            <a:normAutofit/>
          </a:bodyPr>
          <a:lstStyle>
            <a:lvl1pPr marL="0" indent="0">
              <a:buNone/>
              <a:defRPr sz="19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ja-JP" altLang="en-US"/>
              <a:t>2004/08/17</a:t>
            </a:r>
            <a:endParaRPr lang="en-US" altLang="ja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ja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6AEAF-D138-4B65-B1A6-B45D0ABB536E}" type="slidenum">
              <a:rPr lang="ja-JP" altLang="en-US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98172899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6666" y="1828801"/>
            <a:ext cx="4210050" cy="435133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8801"/>
            <a:ext cx="4210050" cy="435133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ja-JP" altLang="en-US"/>
              <a:t>2004/08/17</a:t>
            </a:r>
            <a:endParaRPr lang="en-US" altLang="ja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ja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6AEAF-D138-4B65-B1A6-B45D0ABB536E}" type="slidenum">
              <a:rPr lang="ja-JP" altLang="en-US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941246453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665" y="1681851"/>
            <a:ext cx="4189413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6665" y="2507551"/>
            <a:ext cx="4189413" cy="3680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851"/>
            <a:ext cx="421005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7551"/>
            <a:ext cx="4210051" cy="36805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ja-JP" altLang="en-US"/>
              <a:t>2004/08/17</a:t>
            </a:r>
            <a:endParaRPr lang="en-US" altLang="ja-JP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ja-JP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6AEAF-D138-4B65-B1A6-B45D0ABB536E}" type="slidenum">
              <a:rPr lang="ja-JP" altLang="en-US" smtClean="0"/>
              <a:pPr/>
              <a:t>‹#›</a:t>
            </a:fld>
            <a:endParaRPr lang="en-US" altLang="ja-JP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463253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ja-JP" altLang="en-US"/>
              <a:t>2004/08/17</a:t>
            </a:r>
            <a:endParaRPr lang="en-US" altLang="ja-JP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ja-JP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395B1-CE77-4D62-ACE8-DABA25482F0B}" type="slidenum">
              <a:rPr lang="ja-JP" altLang="en-US" smtClean="0"/>
              <a:pPr/>
              <a:t>‹#›</a:t>
            </a:fld>
            <a:endParaRPr lang="en-US" altLang="ja-JP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102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ja-JP" altLang="en-US"/>
              <a:t>2004/08/17</a:t>
            </a:r>
            <a:endParaRPr lang="en-US" alt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AD22-6A65-4C68-8D33-B5770C07ADAB}" type="slidenum">
              <a:rPr lang="ja-JP" altLang="en-US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772608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14" y="457201"/>
            <a:ext cx="3194685" cy="1600197"/>
          </a:xfrm>
        </p:spPr>
        <p:txBody>
          <a:bodyPr anchor="b">
            <a:normAutofit/>
          </a:bodyPr>
          <a:lstStyle>
            <a:lvl1pPr>
              <a:defRPr sz="26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0050" y="990600"/>
            <a:ext cx="5014913" cy="4876800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3514" y="2057399"/>
            <a:ext cx="3194685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300"/>
            </a:lvl1pPr>
            <a:lvl2pPr marL="371475" indent="0">
              <a:buNone/>
              <a:defRPr sz="975"/>
            </a:lvl2pPr>
            <a:lvl3pPr marL="742950" indent="0">
              <a:buNone/>
              <a:defRPr sz="813"/>
            </a:lvl3pPr>
            <a:lvl4pPr marL="1114425" indent="0">
              <a:buNone/>
              <a:defRPr sz="731"/>
            </a:lvl4pPr>
            <a:lvl5pPr marL="1485900" indent="0">
              <a:buNone/>
              <a:defRPr sz="731"/>
            </a:lvl5pPr>
            <a:lvl6pPr marL="1857375" indent="0">
              <a:buNone/>
              <a:defRPr sz="731"/>
            </a:lvl6pPr>
            <a:lvl7pPr marL="2228850" indent="0">
              <a:buNone/>
              <a:defRPr sz="731"/>
            </a:lvl7pPr>
            <a:lvl8pPr marL="2600325" indent="0">
              <a:buNone/>
              <a:defRPr sz="731"/>
            </a:lvl8pPr>
            <a:lvl9pPr marL="2971800" indent="0">
              <a:buNone/>
              <a:defRPr sz="73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ja-JP" altLang="en-US"/>
              <a:t>2004/08/17</a:t>
            </a:r>
            <a:endParaRPr lang="en-US" altLang="ja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ja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6AEAF-D138-4B65-B1A6-B45D0ABB536E}" type="slidenum">
              <a:rPr lang="ja-JP" altLang="en-US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00701435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14" y="457200"/>
            <a:ext cx="3194685" cy="1600200"/>
          </a:xfrm>
        </p:spPr>
        <p:txBody>
          <a:bodyPr anchor="b">
            <a:normAutofit/>
          </a:bodyPr>
          <a:lstStyle>
            <a:lvl1pPr>
              <a:defRPr sz="26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10050" y="990600"/>
            <a:ext cx="5014913" cy="4876800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3514" y="2057400"/>
            <a:ext cx="3194685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300"/>
            </a:lvl1pPr>
            <a:lvl2pPr marL="371475" indent="0">
              <a:buNone/>
              <a:defRPr sz="975"/>
            </a:lvl2pPr>
            <a:lvl3pPr marL="742950" indent="0">
              <a:buNone/>
              <a:defRPr sz="813"/>
            </a:lvl3pPr>
            <a:lvl4pPr marL="1114425" indent="0">
              <a:buNone/>
              <a:defRPr sz="731"/>
            </a:lvl4pPr>
            <a:lvl5pPr marL="1485900" indent="0">
              <a:buNone/>
              <a:defRPr sz="731"/>
            </a:lvl5pPr>
            <a:lvl6pPr marL="1857375" indent="0">
              <a:buNone/>
              <a:defRPr sz="731"/>
            </a:lvl6pPr>
            <a:lvl7pPr marL="2228850" indent="0">
              <a:buNone/>
              <a:defRPr sz="731"/>
            </a:lvl7pPr>
            <a:lvl8pPr marL="2600325" indent="0">
              <a:buNone/>
              <a:defRPr sz="731"/>
            </a:lvl8pPr>
            <a:lvl9pPr marL="2971800" indent="0">
              <a:buNone/>
              <a:defRPr sz="73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ja-JP" altLang="en-US"/>
              <a:t>2004/08/17</a:t>
            </a:r>
            <a:endParaRPr lang="en-US" altLang="ja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ja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6AEAF-D138-4B65-B1A6-B45D0ABB536E}" type="slidenum">
              <a:rPr lang="ja-JP" altLang="en-US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64734809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ja-JP" altLang="en-US"/>
              <a:t>2004/08/17</a:t>
            </a:r>
            <a:endParaRPr lang="en-US" altLang="ja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ja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2FAD7-F3C1-4ADD-9E2C-8F86296E0AF6}" type="slidenum">
              <a:rPr lang="ja-JP" altLang="en-US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00516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1" y="360362"/>
            <a:ext cx="2135981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7" y="360363"/>
            <a:ext cx="6284119" cy="581183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ja-JP" altLang="en-US"/>
              <a:t>2004/08/17</a:t>
            </a:r>
            <a:endParaRPr lang="en-US" altLang="ja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ja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0C46D-BEEB-4D8B-8081-9B5819136021}" type="slidenum">
              <a:rPr lang="ja-JP" altLang="en-US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7363925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10" name="Rectangle 9"/>
          <p:cNvSpPr/>
          <p:nvPr/>
        </p:nvSpPr>
        <p:spPr>
          <a:xfrm>
            <a:off x="1062645" y="1275025"/>
            <a:ext cx="7780713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Rectangle 10"/>
          <p:cNvSpPr/>
          <p:nvPr/>
        </p:nvSpPr>
        <p:spPr>
          <a:xfrm>
            <a:off x="1178814" y="1385316"/>
            <a:ext cx="7548372" cy="408736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15" name="Rectangle 14"/>
          <p:cNvSpPr/>
          <p:nvPr/>
        </p:nvSpPr>
        <p:spPr>
          <a:xfrm>
            <a:off x="4110990" y="1267730"/>
            <a:ext cx="1684020" cy="640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grpSp>
        <p:nvGrpSpPr>
          <p:cNvPr id="4" name="Group 3"/>
          <p:cNvGrpSpPr/>
          <p:nvPr/>
        </p:nvGrpSpPr>
        <p:grpSpPr>
          <a:xfrm>
            <a:off x="4210050" y="1267731"/>
            <a:ext cx="1485900" cy="548640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8888" y="2091263"/>
            <a:ext cx="7368227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6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9206" y="4682062"/>
            <a:ext cx="7370064" cy="50292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4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400"/>
            </a:lvl2pPr>
            <a:lvl3pPr marL="914400" indent="0" algn="ctr">
              <a:buNone/>
              <a:defRPr sz="1400"/>
            </a:lvl3pPr>
            <a:lvl4pPr marL="1371600" indent="0" algn="ctr">
              <a:buNone/>
              <a:defRPr sz="1400"/>
            </a:lvl4pPr>
            <a:lvl5pPr marL="1828800" indent="0" algn="ctr">
              <a:buNone/>
              <a:defRPr sz="1400"/>
            </a:lvl5pPr>
            <a:lvl6pPr marL="2286000" indent="0" algn="ctr">
              <a:buNone/>
              <a:defRPr sz="1400"/>
            </a:lvl6pPr>
            <a:lvl7pPr marL="2743200" indent="0" algn="ctr">
              <a:buNone/>
              <a:defRPr sz="1400"/>
            </a:lvl7pPr>
            <a:lvl8pPr marL="3200400" indent="0" algn="ctr">
              <a:buNone/>
              <a:defRPr sz="1400"/>
            </a:lvl8pPr>
            <a:lvl9pPr marL="3657600" indent="0" algn="ctr">
              <a:buNone/>
              <a:defRPr sz="14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4259580" y="1327188"/>
            <a:ext cx="1386840" cy="457200"/>
          </a:xfrm>
        </p:spPr>
        <p:txBody>
          <a:bodyPr/>
          <a:lstStyle>
            <a:lvl1pPr algn="ctr">
              <a:defRPr sz="11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ja-JP" altLang="en-US"/>
              <a:t>2004/08/17</a:t>
            </a:r>
            <a:endParaRPr lang="en-US" altLang="ja-JP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197014" y="5211060"/>
            <a:ext cx="4798219" cy="228600"/>
          </a:xfrm>
        </p:spPr>
        <p:txBody>
          <a:bodyPr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altLang="ja-JP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6993123" y="5212080"/>
            <a:ext cx="1715904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EAD8AE0-085F-4C09-B76D-E3BD1837E582}" type="slidenum">
              <a:rPr lang="ja-JP" altLang="en-US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2123993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ja-JP" altLang="en-US"/>
              <a:t>2004/08/17</a:t>
            </a:r>
            <a:endParaRPr lang="en-US" altLang="ja-JP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ja-JP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6AEAF-D138-4B65-B1A6-B45D0ABB536E}" type="slidenum">
              <a:rPr lang="ja-JP" altLang="en-US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736446255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3" name="Rectangle 22"/>
          <p:cNvSpPr/>
          <p:nvPr/>
        </p:nvSpPr>
        <p:spPr>
          <a:xfrm>
            <a:off x="1062645" y="1275025"/>
            <a:ext cx="7780713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4" name="Rectangle 23"/>
          <p:cNvSpPr/>
          <p:nvPr/>
        </p:nvSpPr>
        <p:spPr>
          <a:xfrm>
            <a:off x="1178814" y="1385316"/>
            <a:ext cx="7548372" cy="408736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endParaRPr lang="zh-TW" altLang="en-US"/>
          </a:p>
        </p:txBody>
      </p:sp>
      <p:sp>
        <p:nvSpPr>
          <p:cNvPr id="30" name="Rectangle 29"/>
          <p:cNvSpPr/>
          <p:nvPr/>
        </p:nvSpPr>
        <p:spPr>
          <a:xfrm>
            <a:off x="4110990" y="1267730"/>
            <a:ext cx="1684020" cy="640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grpSp>
        <p:nvGrpSpPr>
          <p:cNvPr id="31" name="Group 30"/>
          <p:cNvGrpSpPr/>
          <p:nvPr/>
        </p:nvGrpSpPr>
        <p:grpSpPr>
          <a:xfrm>
            <a:off x="4210050" y="1267731"/>
            <a:ext cx="1485900" cy="548640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0443" y="2094309"/>
            <a:ext cx="7370064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6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0445" y="4682062"/>
            <a:ext cx="7370064" cy="50292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259580" y="1325880"/>
            <a:ext cx="1386840" cy="457200"/>
          </a:xfrm>
        </p:spPr>
        <p:txBody>
          <a:bodyPr/>
          <a:lstStyle>
            <a:lvl1pPr algn="ctr">
              <a:defRPr lang="en-US" sz="11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ja-JP" altLang="en-US"/>
              <a:t>2004/08/17</a:t>
            </a:r>
            <a:endParaRPr lang="en-US" altLang="ja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96736" y="5211060"/>
            <a:ext cx="4799457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 altLang="ja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91159" y="5211060"/>
            <a:ext cx="1716215" cy="228600"/>
          </a:xfrm>
        </p:spPr>
        <p:txBody>
          <a:bodyPr/>
          <a:lstStyle/>
          <a:p>
            <a:fld id="{5F36AEAF-D138-4B65-B1A6-B45D0ABB536E}" type="slidenum">
              <a:rPr lang="ja-JP" altLang="en-US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0454737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92480" y="2103120"/>
            <a:ext cx="3962400" cy="393192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51120" y="2103120"/>
            <a:ext cx="3962400" cy="393192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ja-JP" altLang="en-US"/>
              <a:t>2004/08/17</a:t>
            </a:r>
            <a:endParaRPr lang="en-US" altLang="ja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ja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6AEAF-D138-4B65-B1A6-B45D0ABB536E}" type="slidenum">
              <a:rPr lang="ja-JP" altLang="en-US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358613863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2480" y="2074334"/>
            <a:ext cx="396240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2480" y="2755898"/>
            <a:ext cx="396240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51120" y="2074334"/>
            <a:ext cx="396240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51120" y="2756581"/>
            <a:ext cx="396240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ja-JP" altLang="en-US"/>
              <a:t>2004/08/17</a:t>
            </a:r>
            <a:endParaRPr lang="en-US" altLang="ja-JP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ja-JP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6AEAF-D138-4B65-B1A6-B45D0ABB536E}" type="slidenum">
              <a:rPr lang="ja-JP" altLang="en-US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211936363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ja-JP" altLang="en-US"/>
              <a:t>2004/08/17</a:t>
            </a:r>
            <a:endParaRPr lang="en-US" altLang="ja-JP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ja-JP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A395B1-CE77-4D62-ACE8-DABA25482F0B}" type="slidenum">
              <a:rPr lang="ja-JP" altLang="en-US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9979162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ja-JP" altLang="en-US"/>
              <a:t>2004/08/17</a:t>
            </a:r>
            <a:endParaRPr lang="en-US" alt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1AD22-6A65-4C68-8D33-B5770C07ADAB}" type="slidenum">
              <a:rPr lang="ja-JP" altLang="en-US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2893491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99492" y="173736"/>
            <a:ext cx="6931724" cy="65105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15" name="Rectangle 14"/>
          <p:cNvSpPr/>
          <p:nvPr/>
        </p:nvSpPr>
        <p:spPr>
          <a:xfrm>
            <a:off x="7329064" y="173736"/>
            <a:ext cx="2377440" cy="6510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3325" y="607392"/>
            <a:ext cx="1975009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4724" y="907143"/>
            <a:ext cx="5881261" cy="5043714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3325" y="2286000"/>
            <a:ext cx="1975009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3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ja-JP" altLang="en-US"/>
              <a:t>2004/08/17</a:t>
            </a:r>
            <a:endParaRPr lang="en-US" altLang="ja-JP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 altLang="ja-JP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8444863" y="6310086"/>
            <a:ext cx="118872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F36AEAF-D138-4B65-B1A6-B45D0ABB536E}" type="slidenum">
              <a:rPr lang="ja-JP" altLang="en-US" smtClean="0"/>
              <a:pPr/>
              <a:t>‹#›</a:t>
            </a:fld>
            <a:endParaRPr lang="en-US" altLang="ja-JP"/>
          </a:p>
        </p:txBody>
      </p:sp>
      <p:sp>
        <p:nvSpPr>
          <p:cNvPr id="12" name="Rectangle 11"/>
          <p:cNvSpPr/>
          <p:nvPr/>
        </p:nvSpPr>
        <p:spPr>
          <a:xfrm>
            <a:off x="7440507" y="274320"/>
            <a:ext cx="2154555" cy="6309360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9007195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7329064" y="173736"/>
            <a:ext cx="2377440" cy="6510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3325" y="603504"/>
            <a:ext cx="1976247" cy="1645920"/>
          </a:xfrm>
        </p:spPr>
        <p:txBody>
          <a:bodyPr anchor="b">
            <a:noAutofit/>
          </a:bodyPr>
          <a:lstStyle>
            <a:lvl1pPr algn="l">
              <a:defRPr sz="24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5736" y="173736"/>
            <a:ext cx="6931724" cy="6510528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3325" y="2286000"/>
            <a:ext cx="1976247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3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ja-JP" altLang="en-US"/>
              <a:t>2004/08/17</a:t>
            </a:r>
            <a:endParaRPr lang="en-US" altLang="ja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9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altLang="ja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47342" y="6309360"/>
            <a:ext cx="118872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F36AEAF-D138-4B65-B1A6-B45D0ABB536E}" type="slidenum">
              <a:rPr lang="ja-JP" altLang="en-US" smtClean="0"/>
              <a:pPr/>
              <a:t>‹#›</a:t>
            </a:fld>
            <a:endParaRPr lang="en-US" altLang="ja-JP"/>
          </a:p>
        </p:txBody>
      </p:sp>
      <p:sp>
        <p:nvSpPr>
          <p:cNvPr id="11" name="Rectangle 10"/>
          <p:cNvSpPr/>
          <p:nvPr/>
        </p:nvSpPr>
        <p:spPr>
          <a:xfrm>
            <a:off x="7440507" y="274320"/>
            <a:ext cx="2154555" cy="6309360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89372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ja-JP" altLang="en-US"/>
              <a:t>2004/08/17</a:t>
            </a:r>
            <a:endParaRPr lang="en-US" altLang="ja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ja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2FAD7-F3C1-4ADD-9E2C-8F86296E0AF6}" type="slidenum">
              <a:rPr lang="ja-JP" altLang="en-US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3598102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5675" y="762000"/>
            <a:ext cx="1919288" cy="525780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762000"/>
            <a:ext cx="6562725" cy="525780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ja-JP" altLang="en-US"/>
              <a:t>2004/08/17</a:t>
            </a:r>
            <a:endParaRPr lang="en-US" altLang="ja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ja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70C46D-BEEB-4D8B-8081-9B5819136021}" type="slidenum">
              <a:rPr lang="ja-JP" altLang="en-US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04510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6666" y="365760"/>
            <a:ext cx="8543925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666" y="1828801"/>
            <a:ext cx="8543925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94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ja-JP" altLang="en-US"/>
              <a:t>2004/08/17</a:t>
            </a:r>
            <a:endParaRPr lang="en-US" altLang="ja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94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altLang="ja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01741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9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36AEAF-D138-4B65-B1A6-B45D0ABB536E}" type="slidenum">
              <a:rPr lang="ja-JP" altLang="en-US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427632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Wingdings 2" pitchFamily="18" charset="2"/>
        <a:buChar char="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Wingdings 2" pitchFamily="18" charset="2"/>
        <a:buChar char="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Wingdings 2" pitchFamily="18" charset="2"/>
        <a:buChar char="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Wingdings 2" pitchFamily="18" charset="2"/>
        <a:buChar char="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Wingdings 2" pitchFamily="18" charset="2"/>
        <a:buChar char="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spcBef>
          <a:spcPct val="20000"/>
        </a:spcBef>
        <a:buFont typeface="Wingdings 2" pitchFamily="18" charset="2"/>
        <a:buChar char="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spcBef>
          <a:spcPct val="20000"/>
        </a:spcBef>
        <a:buFont typeface="Wingdings 2" pitchFamily="18" charset="2"/>
        <a:buChar char="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spcBef>
          <a:spcPct val="20000"/>
        </a:spcBef>
        <a:buFont typeface="Wingdings 2" pitchFamily="18" charset="2"/>
        <a:buChar char="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spcBef>
          <a:spcPct val="20000"/>
        </a:spcBef>
        <a:buFont typeface="Wingdings 2" pitchFamily="18" charset="2"/>
        <a:buChar char="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90691" y="173736"/>
            <a:ext cx="9524619" cy="6510528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92480" y="642594"/>
            <a:ext cx="832104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2480" y="2103120"/>
            <a:ext cx="832104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4332" y="6309360"/>
            <a:ext cx="222885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ja-JP" altLang="en-US"/>
              <a:t>2004/08/17</a:t>
            </a:r>
            <a:endParaRPr lang="en-US" altLang="ja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13304" y="6309360"/>
            <a:ext cx="4279392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altLang="ja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75331" y="6309360"/>
            <a:ext cx="118872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F36AEAF-D138-4B65-B1A6-B45D0ABB536E}" type="slidenum">
              <a:rPr lang="ja-JP" altLang="en-US" smtClean="0"/>
              <a:pPr/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064111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9" r:id="rId1"/>
    <p:sldLayoutId id="2147483880" r:id="rId2"/>
    <p:sldLayoutId id="2147483881" r:id="rId3"/>
    <p:sldLayoutId id="2147483882" r:id="rId4"/>
    <p:sldLayoutId id="2147483883" r:id="rId5"/>
    <p:sldLayoutId id="2147483884" r:id="rId6"/>
    <p:sldLayoutId id="2147483885" r:id="rId7"/>
    <p:sldLayoutId id="2147483886" r:id="rId8"/>
    <p:sldLayoutId id="2147483887" r:id="rId9"/>
    <p:sldLayoutId id="2147483888" r:id="rId10"/>
    <p:sldLayoutId id="214748388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riaofsonata/Smart-Manufacturing-Inventory-Dashboard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8.png"/><Relationship Id="rId7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8.jpeg"/><Relationship Id="rId5" Type="http://schemas.openxmlformats.org/officeDocument/2006/relationships/image" Target="../media/image17.png"/><Relationship Id="rId4" Type="http://schemas.openxmlformats.org/officeDocument/2006/relationships/image" Target="../media/image16.gi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jpe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sz="46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個人簡歷與作品集</a:t>
            </a:r>
            <a:endParaRPr lang="en-US" altLang="ja-JP" sz="4600"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zh-TW" altLang="en-US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廖元獅</a:t>
            </a:r>
            <a:endParaRPr lang="en-US" altLang="zh-TW"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r>
              <a:rPr lang="en-US" altLang="ja-JP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qwqw46@hotmail.com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792480" y="188640"/>
            <a:ext cx="8321040" cy="1371600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1.</a:t>
            </a:r>
            <a:r>
              <a:rPr lang="zh-TW" altLang="en-US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 個人簡歷</a:t>
            </a:r>
            <a:endParaRPr lang="en-US" altLang="ja-JP"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D456C3-3D24-1B84-F985-A553B0253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D4A13-CB22-4388-A18F-1762B4439668}" type="slidenum">
              <a:rPr lang="ja-JP" altLang="en-US" smtClean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pPr/>
              <a:t>2</a:t>
            </a:fld>
            <a:endParaRPr lang="en-US" altLang="ja-JP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356353" y="2193530"/>
            <a:ext cx="8845119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廖元獅，</a:t>
            </a:r>
            <a:r>
              <a:rPr lang="en-US" altLang="zh-TW" sz="20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39</a:t>
            </a:r>
            <a:r>
              <a:rPr lang="zh-TW" altLang="en-US" sz="20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歲</a:t>
            </a:r>
            <a:endParaRPr lang="en-US" altLang="zh-TW" sz="2000"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國中第一名畢業</a:t>
            </a:r>
            <a:endParaRPr lang="en-US" altLang="zh-TW" sz="2000"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高中第四名畢業，獲模範生</a:t>
            </a:r>
            <a:endParaRPr lang="en-US" altLang="zh-TW" sz="2000"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國立台灣海洋大學學士畢業，任排球系隊隊長</a:t>
            </a:r>
            <a:endParaRPr lang="en-US" altLang="zh-TW" sz="2000"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國立台灣海洋大學碩士微系統組第三名畢業</a:t>
            </a:r>
            <a:endParaRPr lang="en-US" altLang="zh-TW" sz="2000"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機構與結構分析工作經歷</a:t>
            </a:r>
            <a:r>
              <a:rPr lang="en-US" altLang="zh-TW" sz="20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:</a:t>
            </a:r>
            <a:r>
              <a:rPr lang="zh-TW" altLang="en-US" sz="20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十一年</a:t>
            </a:r>
            <a:endParaRPr lang="en-US" altLang="zh-TW" sz="2000"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zh-TW" sz="20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TOEIC:600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專長</a:t>
            </a:r>
            <a:r>
              <a:rPr lang="zh-TW" altLang="en-US" sz="2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資料</a:t>
            </a:r>
            <a:r>
              <a:rPr lang="zh-TW" altLang="en-US" sz="20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分析軟體</a:t>
            </a:r>
            <a:r>
              <a:rPr lang="en-US" altLang="zh-TW" sz="20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:</a:t>
            </a:r>
            <a:r>
              <a:rPr lang="zh-TW" altLang="en-US" sz="20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 </a:t>
            </a:r>
            <a:r>
              <a:rPr lang="en-US" altLang="zh-TW" sz="2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Python, Pandas, VS Code, Git/GitHub, MySQL, Streamlit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專長工程繪圖軟體</a:t>
            </a:r>
            <a:r>
              <a:rPr lang="en-US" altLang="zh-TW" sz="20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:</a:t>
            </a:r>
            <a:r>
              <a:rPr lang="zh-TW" altLang="en-US" sz="20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 </a:t>
            </a:r>
            <a:r>
              <a:rPr lang="en-US" altLang="zh-TW" sz="2000" b="1" dirty="0" err="1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AutoCad</a:t>
            </a:r>
            <a:r>
              <a:rPr lang="en-US" altLang="zh-TW" sz="2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, Pro/E</a:t>
            </a:r>
            <a:r>
              <a:rPr lang="en-US" altLang="zh-TW" sz="20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, Creo, Solid works..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專長工程分析軟體</a:t>
            </a:r>
            <a:r>
              <a:rPr lang="en-US" altLang="zh-TW" sz="20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:</a:t>
            </a:r>
            <a:r>
              <a:rPr lang="zh-TW" altLang="en-US" sz="20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 </a:t>
            </a:r>
            <a:r>
              <a:rPr lang="en-US" altLang="zh-TW" sz="2000" b="1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Ansys, Abaqus</a:t>
            </a:r>
            <a:r>
              <a:rPr lang="en-US" altLang="zh-TW" sz="20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, Maxwell, COMSOL, CFD ACE…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TW" altLang="en-US" sz="20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專長工程程式語言</a:t>
            </a:r>
            <a:r>
              <a:rPr lang="en-US" altLang="zh-TW" sz="20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: </a:t>
            </a:r>
            <a:r>
              <a:rPr lang="en-US" altLang="zh-TW" sz="2000" dirty="0" err="1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Matlab</a:t>
            </a:r>
            <a:r>
              <a:rPr lang="en-US" altLang="zh-TW" sz="20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 , 8051</a:t>
            </a:r>
            <a:r>
              <a:rPr lang="zh-TW" altLang="en-US" sz="20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單晶片</a:t>
            </a:r>
            <a:r>
              <a:rPr lang="en-US" altLang="zh-TW" sz="20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, LabView…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37FD603-95AA-100D-F1D1-FDB3C80BEDA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753" y="255916"/>
            <a:ext cx="3694298" cy="276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C1A2B6D-C633-6898-23A0-BFF2CBFEF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6AEAF-D138-4B65-B1A6-B45D0ABB536E}" type="slidenum">
              <a:rPr lang="ja-JP" altLang="en-US" smtClean="0"/>
              <a:pPr/>
              <a:t>3</a:t>
            </a:fld>
            <a:endParaRPr lang="en-US" altLang="ja-JP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DD7D6C66-83AD-9C19-405C-199938DDD9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92480" y="188640"/>
            <a:ext cx="8321040" cy="1371600"/>
          </a:xfrm>
        </p:spPr>
        <p:txBody>
          <a:bodyPr/>
          <a:lstStyle/>
          <a:p>
            <a:r>
              <a:rPr lang="en-US" altLang="zh-TW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2. Git/GitHub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99B03C-BE0A-E0BA-7F64-7CA2734223C4}"/>
              </a:ext>
            </a:extLst>
          </p:cNvPr>
          <p:cNvSpPr txBox="1"/>
          <p:nvPr/>
        </p:nvSpPr>
        <p:spPr>
          <a:xfrm>
            <a:off x="848544" y="4365104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hlinkClick r:id="rId3"/>
              </a:rPr>
              <a:t>GitHub</a:t>
            </a:r>
            <a:endParaRPr lang="en-US" altLang="zh-TW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5075C385-EBCA-83C9-EBDA-43FF240E8D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488" y="1268760"/>
            <a:ext cx="5107125" cy="3052155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FA1EA22B-8B05-2B3B-1F94-AED8F937B6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2230" y="332655"/>
            <a:ext cx="3733615" cy="6276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792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10757-DE47-710B-D107-BCC15B391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2">
            <a:extLst>
              <a:ext uri="{FF2B5EF4-FFF2-40B4-BE49-F238E27FC236}">
                <a16:creationId xmlns:a16="http://schemas.microsoft.com/office/drawing/2014/main" id="{A90746F9-B678-D472-8BA7-91B668A67C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92480" y="188640"/>
            <a:ext cx="8321040" cy="1371600"/>
          </a:xfrm>
        </p:spPr>
        <p:txBody>
          <a:bodyPr/>
          <a:lstStyle/>
          <a:p>
            <a:r>
              <a:rPr lang="en-US" altLang="zh-TW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3.Python/MySQL/FastAPI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1E69DA84-6FDA-129D-6B45-E3F0847809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568" y="1196752"/>
            <a:ext cx="5400600" cy="5383482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C5A43E0A-9F76-C10A-A1D9-8296AF4424FB}"/>
              </a:ext>
            </a:extLst>
          </p:cNvPr>
          <p:cNvSpPr txBox="1"/>
          <p:nvPr/>
        </p:nvSpPr>
        <p:spPr>
          <a:xfrm>
            <a:off x="4808984" y="1558564"/>
            <a:ext cx="1080000" cy="38048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altLang="zh-TW" sz="1000" dirty="0"/>
              <a:t>MySQL</a:t>
            </a:r>
            <a:r>
              <a:rPr lang="zh-TW" altLang="en-US" sz="1000" dirty="0"/>
              <a:t>資料庫</a:t>
            </a:r>
            <a:endParaRPr lang="en-US" altLang="zh-TW" sz="1000" dirty="0"/>
          </a:p>
          <a:p>
            <a:pPr algn="ctr"/>
            <a:r>
              <a:rPr lang="zh-TW" altLang="en-US" sz="1000" dirty="0"/>
              <a:t>架構建立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07616AA6-AB29-5958-3E23-CD1FCCCD7938}"/>
              </a:ext>
            </a:extLst>
          </p:cNvPr>
          <p:cNvSpPr txBox="1"/>
          <p:nvPr/>
        </p:nvSpPr>
        <p:spPr>
          <a:xfrm>
            <a:off x="3479649" y="1558564"/>
            <a:ext cx="1080000" cy="38048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altLang="zh-TW" sz="1000" dirty="0"/>
              <a:t>MySQL</a:t>
            </a:r>
            <a:r>
              <a:rPr lang="zh-TW" altLang="en-US" sz="1000" dirty="0"/>
              <a:t>資料庫</a:t>
            </a:r>
            <a:endParaRPr lang="en-US" altLang="zh-TW" sz="1000" dirty="0"/>
          </a:p>
          <a:p>
            <a:pPr algn="ctr"/>
            <a:r>
              <a:rPr lang="zh-TW" altLang="en-US" sz="1000" dirty="0"/>
              <a:t>數據存取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C96C0305-A757-90EA-BF72-ABD717CEB619}"/>
              </a:ext>
            </a:extLst>
          </p:cNvPr>
          <p:cNvSpPr txBox="1"/>
          <p:nvPr/>
        </p:nvSpPr>
        <p:spPr>
          <a:xfrm>
            <a:off x="2203848" y="1558564"/>
            <a:ext cx="1080000" cy="226591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lang="en-US" altLang="zh-TW" sz="1000" dirty="0"/>
              <a:t>FastAPI</a:t>
            </a:r>
            <a:r>
              <a:rPr lang="zh-TW" altLang="en-US" sz="1000" dirty="0"/>
              <a:t>處理數據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8AB410F6-E54D-5C7D-47F7-765A99EE726D}"/>
              </a:ext>
            </a:extLst>
          </p:cNvPr>
          <p:cNvSpPr txBox="1"/>
          <p:nvPr/>
        </p:nvSpPr>
        <p:spPr>
          <a:xfrm>
            <a:off x="1094208" y="1558564"/>
            <a:ext cx="1080000" cy="38048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lIns="36000" tIns="36000" rIns="36000" bIns="36000" rtlCol="0">
            <a:spAutoFit/>
          </a:bodyPr>
          <a:lstStyle/>
          <a:p>
            <a:pPr algn="ctr"/>
            <a:r>
              <a:rPr kumimoji="1" lang="en-US" altLang="zh-TW" sz="1000" dirty="0">
                <a:latin typeface="Times New Roman" charset="0"/>
                <a:ea typeface="ＭＳ Ｐ明朝" charset="-128"/>
              </a:rPr>
              <a:t>Streamlit</a:t>
            </a:r>
          </a:p>
          <a:p>
            <a:pPr algn="ctr"/>
            <a:r>
              <a:rPr kumimoji="1" lang="zh-TW" altLang="en-US" sz="1000" dirty="0">
                <a:latin typeface="Times New Roman" charset="0"/>
                <a:ea typeface="ＭＳ Ｐ明朝" charset="-128"/>
              </a:rPr>
              <a:t>前端網頁視覺化</a:t>
            </a:r>
            <a:endParaRPr lang="zh-TW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526778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ADC9C-A4C1-6042-2639-F4C283367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7E51989-6FF5-1A95-4644-2C816616F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6AEAF-D138-4B65-B1A6-B45D0ABB536E}" type="slidenum">
              <a:rPr lang="ja-JP" altLang="en-US" smtClean="0"/>
              <a:pPr/>
              <a:t>5</a:t>
            </a:fld>
            <a:endParaRPr lang="en-US" altLang="ja-JP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CC40B3B8-86E6-D4A5-E271-B0620684C6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92480" y="188640"/>
            <a:ext cx="8321040" cy="1371600"/>
          </a:xfrm>
        </p:spPr>
        <p:txBody>
          <a:bodyPr/>
          <a:lstStyle/>
          <a:p>
            <a:r>
              <a:rPr lang="en-US" altLang="zh-TW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4.Streamlit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C58F7E8B-E8C2-1592-09D9-52EABEF690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80" y="1107685"/>
            <a:ext cx="7488832" cy="5489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942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4F630-7CB3-D420-81FA-55DDB8259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6039ECF-3363-2617-93D7-F2DA31863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6AEAF-D138-4B65-B1A6-B45D0ABB536E}" type="slidenum">
              <a:rPr lang="ja-JP" altLang="en-US" smtClean="0"/>
              <a:pPr/>
              <a:t>6</a:t>
            </a:fld>
            <a:endParaRPr lang="en-US" altLang="ja-JP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86DA465-96CB-1879-B0FC-A5100AE94D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328" y="1281217"/>
            <a:ext cx="3872880" cy="2215129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3866F536-243F-1990-88B7-E09D94AA7B83}"/>
              </a:ext>
            </a:extLst>
          </p:cNvPr>
          <p:cNvSpPr txBox="1"/>
          <p:nvPr/>
        </p:nvSpPr>
        <p:spPr>
          <a:xfrm>
            <a:off x="771801" y="3480336"/>
            <a:ext cx="2912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CREO</a:t>
            </a:r>
            <a:r>
              <a:rPr lang="zh-TW" altLang="en-US" dirty="0"/>
              <a:t>骨架模型與部件設置</a:t>
            </a:r>
          </a:p>
        </p:txBody>
      </p:sp>
      <p:pic>
        <p:nvPicPr>
          <p:cNvPr id="11" name="Picture 3">
            <a:extLst>
              <a:ext uri="{FF2B5EF4-FFF2-40B4-BE49-F238E27FC236}">
                <a16:creationId xmlns:a16="http://schemas.microsoft.com/office/drawing/2014/main" id="{2A87E550-46ED-90F4-A159-BA1D58EBB6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7081" y="1135360"/>
            <a:ext cx="1843207" cy="19968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" name="群組 11">
            <a:extLst>
              <a:ext uri="{FF2B5EF4-FFF2-40B4-BE49-F238E27FC236}">
                <a16:creationId xmlns:a16="http://schemas.microsoft.com/office/drawing/2014/main" id="{E0C6B5D5-2B62-2048-38E4-9E8F2C6FE9DE}"/>
              </a:ext>
            </a:extLst>
          </p:cNvPr>
          <p:cNvGrpSpPr/>
          <p:nvPr/>
        </p:nvGrpSpPr>
        <p:grpSpPr>
          <a:xfrm>
            <a:off x="6177136" y="1002751"/>
            <a:ext cx="3336197" cy="2129417"/>
            <a:chOff x="1568624" y="2615006"/>
            <a:chExt cx="4210298" cy="2808336"/>
          </a:xfrm>
        </p:grpSpPr>
        <p:pic>
          <p:nvPicPr>
            <p:cNvPr id="13" name="Picture 6">
              <a:extLst>
                <a:ext uri="{FF2B5EF4-FFF2-40B4-BE49-F238E27FC236}">
                  <a16:creationId xmlns:a16="http://schemas.microsoft.com/office/drawing/2014/main" id="{BA97C4DA-EA8E-5EA0-1560-CE9D9F1C721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68624" y="2615006"/>
              <a:ext cx="4210298" cy="2808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" name="矩形: 圓角 13">
              <a:extLst>
                <a:ext uri="{FF2B5EF4-FFF2-40B4-BE49-F238E27FC236}">
                  <a16:creationId xmlns:a16="http://schemas.microsoft.com/office/drawing/2014/main" id="{C0ABDC48-2C4F-68F5-E7A4-2FDDA7259F3A}"/>
                </a:ext>
              </a:extLst>
            </p:cNvPr>
            <p:cNvSpPr/>
            <p:nvPr/>
          </p:nvSpPr>
          <p:spPr>
            <a:xfrm>
              <a:off x="1568624" y="3501008"/>
              <a:ext cx="1512168" cy="864096"/>
            </a:xfrm>
            <a:prstGeom prst="roundRect">
              <a:avLst/>
            </a:prstGeom>
            <a:noFill/>
            <a:ln w="38100">
              <a:solidFill>
                <a:srgbClr val="FFC00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95E7A195-D2FD-13B9-E5B6-25BA5BB76599}"/>
              </a:ext>
            </a:extLst>
          </p:cNvPr>
          <p:cNvCxnSpPr>
            <a:cxnSpLocks/>
          </p:cNvCxnSpPr>
          <p:nvPr/>
        </p:nvCxnSpPr>
        <p:spPr>
          <a:xfrm>
            <a:off x="5587991" y="1695782"/>
            <a:ext cx="1143845" cy="323125"/>
          </a:xfrm>
          <a:prstGeom prst="straightConnector1">
            <a:avLst/>
          </a:prstGeom>
          <a:ln w="762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2">
            <a:extLst>
              <a:ext uri="{FF2B5EF4-FFF2-40B4-BE49-F238E27FC236}">
                <a16:creationId xmlns:a16="http://schemas.microsoft.com/office/drawing/2014/main" id="{427071B3-3624-3EF8-6AA5-F8A295C07C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92480" y="188640"/>
            <a:ext cx="8321040" cy="1371600"/>
          </a:xfrm>
        </p:spPr>
        <p:txBody>
          <a:bodyPr/>
          <a:lstStyle/>
          <a:p>
            <a:r>
              <a:rPr lang="en-US" altLang="zh-TW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5.Pro/E(Creo)</a:t>
            </a:r>
          </a:p>
        </p:txBody>
      </p:sp>
      <p:pic>
        <p:nvPicPr>
          <p:cNvPr id="21" name="Picture 2" descr="順達科技股份有限公司- MoneyDJ理財網">
            <a:extLst>
              <a:ext uri="{FF2B5EF4-FFF2-40B4-BE49-F238E27FC236}">
                <a16:creationId xmlns:a16="http://schemas.microsoft.com/office/drawing/2014/main" id="{D20EB67B-F4F7-2FB2-69DA-79603780BC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3784" y="3759205"/>
            <a:ext cx="3122144" cy="2420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" descr="High-Speed FPC Connectors - Amphenol FCI | Mouser">
            <a:extLst>
              <a:ext uri="{FF2B5EF4-FFF2-40B4-BE49-F238E27FC236}">
                <a16:creationId xmlns:a16="http://schemas.microsoft.com/office/drawing/2014/main" id="{643060BD-FFEA-B37E-2C4C-4619A170FC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1129" y="3587389"/>
            <a:ext cx="1888643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文字方塊 22">
            <a:extLst>
              <a:ext uri="{FF2B5EF4-FFF2-40B4-BE49-F238E27FC236}">
                <a16:creationId xmlns:a16="http://schemas.microsoft.com/office/drawing/2014/main" id="{39AF68F1-9907-E0F3-2C37-556AC5673488}"/>
              </a:ext>
            </a:extLst>
          </p:cNvPr>
          <p:cNvSpPr txBox="1"/>
          <p:nvPr/>
        </p:nvSpPr>
        <p:spPr>
          <a:xfrm>
            <a:off x="7698860" y="4923359"/>
            <a:ext cx="11881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/>
              <a:t>FPC</a:t>
            </a:r>
            <a:r>
              <a:rPr lang="zh-TW" altLang="en-US" sz="1600" dirty="0"/>
              <a:t>軟排線</a:t>
            </a:r>
          </a:p>
        </p:txBody>
      </p:sp>
      <p:pic>
        <p:nvPicPr>
          <p:cNvPr id="24" name="Picture 4" descr="格稜簡介∣ GREENCONN Corporation">
            <a:extLst>
              <a:ext uri="{FF2B5EF4-FFF2-40B4-BE49-F238E27FC236}">
                <a16:creationId xmlns:a16="http://schemas.microsoft.com/office/drawing/2014/main" id="{E69439DC-82F8-7B6C-F3BE-32FEF109B2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1129" y="5256684"/>
            <a:ext cx="1888643" cy="1143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文字方塊 24">
            <a:extLst>
              <a:ext uri="{FF2B5EF4-FFF2-40B4-BE49-F238E27FC236}">
                <a16:creationId xmlns:a16="http://schemas.microsoft.com/office/drawing/2014/main" id="{AB505D2B-2008-CA7D-9B87-AA56E98FBE12}"/>
              </a:ext>
            </a:extLst>
          </p:cNvPr>
          <p:cNvSpPr txBox="1"/>
          <p:nvPr/>
        </p:nvSpPr>
        <p:spPr>
          <a:xfrm>
            <a:off x="7291697" y="6347924"/>
            <a:ext cx="19111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 dirty="0"/>
              <a:t>Cable connector</a:t>
            </a:r>
            <a:endParaRPr lang="zh-TW" altLang="en-US" sz="1600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CEE61B8D-18F2-EDEE-5A92-191FFDA6EA50}"/>
              </a:ext>
            </a:extLst>
          </p:cNvPr>
          <p:cNvSpPr txBox="1"/>
          <p:nvPr/>
        </p:nvSpPr>
        <p:spPr>
          <a:xfrm>
            <a:off x="5183608" y="3094808"/>
            <a:ext cx="23321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手機鏡頭音圈馬達</a:t>
            </a:r>
            <a:endParaRPr lang="zh-TW" altLang="en-US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0815564C-1F94-6D63-A2D2-115FA3992621}"/>
              </a:ext>
            </a:extLst>
          </p:cNvPr>
          <p:cNvSpPr txBox="1"/>
          <p:nvPr/>
        </p:nvSpPr>
        <p:spPr>
          <a:xfrm>
            <a:off x="5249874" y="6163258"/>
            <a:ext cx="1296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18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電池模組</a:t>
            </a: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4DE2BDA4-9CFC-CB4D-DFE5-787AE5BF4615}"/>
              </a:ext>
            </a:extLst>
          </p:cNvPr>
          <p:cNvSpPr txBox="1"/>
          <p:nvPr/>
        </p:nvSpPr>
        <p:spPr>
          <a:xfrm>
            <a:off x="991065" y="5996942"/>
            <a:ext cx="26452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鈑金件</a:t>
            </a:r>
            <a:r>
              <a:rPr lang="en-US" altLang="zh-TW" dirty="0"/>
              <a:t>/FPC-</a:t>
            </a:r>
            <a:r>
              <a:rPr lang="zh-TW" altLang="en-US" dirty="0"/>
              <a:t>攤平與折彎</a:t>
            </a:r>
          </a:p>
        </p:txBody>
      </p:sp>
      <p:pic>
        <p:nvPicPr>
          <p:cNvPr id="31" name="Picture 2">
            <a:extLst>
              <a:ext uri="{FF2B5EF4-FFF2-40B4-BE49-F238E27FC236}">
                <a16:creationId xmlns:a16="http://schemas.microsoft.com/office/drawing/2014/main" id="{00252E73-280E-3E44-997F-085C3BDEF8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81" r="-170" b="13371"/>
          <a:stretch>
            <a:fillRect/>
          </a:stretch>
        </p:blipFill>
        <p:spPr bwMode="auto">
          <a:xfrm>
            <a:off x="802661" y="4081523"/>
            <a:ext cx="3431123" cy="1991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5011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D87D4-EB2E-43EF-0D7A-BAA535C80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951EB85-63B2-740C-F5CD-77CA4972D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6AEAF-D138-4B65-B1A6-B45D0ABB536E}" type="slidenum">
              <a:rPr lang="ja-JP" altLang="en-US" smtClean="0"/>
              <a:pPr/>
              <a:t>7</a:t>
            </a:fld>
            <a:endParaRPr lang="en-US" altLang="ja-JP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ED4C0FD2-3318-4B26-7EE1-BA81EC6424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92480" y="188640"/>
            <a:ext cx="8321040" cy="1371600"/>
          </a:xfrm>
        </p:spPr>
        <p:txBody>
          <a:bodyPr/>
          <a:lstStyle/>
          <a:p>
            <a:r>
              <a:rPr lang="en-US" altLang="zh-TW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6.ANSYS</a:t>
            </a:r>
            <a:r>
              <a:rPr lang="zh-TW" altLang="en-US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、</a:t>
            </a:r>
            <a:r>
              <a:rPr lang="en-US" altLang="zh-TW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ABAQUS</a:t>
            </a:r>
            <a:r>
              <a:rPr lang="zh-TW" altLang="en-US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、</a:t>
            </a:r>
            <a:r>
              <a:rPr lang="en-US" altLang="zh-TW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AutoCAD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5C78DD6D-7335-8D4F-1285-BBDA7E8654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150" y="3996272"/>
            <a:ext cx="3853829" cy="2371036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426E8EE0-E690-20CF-C04A-34CD004FEC78}"/>
              </a:ext>
            </a:extLst>
          </p:cNvPr>
          <p:cNvSpPr txBox="1"/>
          <p:nvPr/>
        </p:nvSpPr>
        <p:spPr>
          <a:xfrm>
            <a:off x="1462424" y="6294060"/>
            <a:ext cx="22797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ANSYS</a:t>
            </a:r>
            <a:r>
              <a:rPr lang="zh-TW" altLang="en-US" dirty="0"/>
              <a:t>靜態模擬應力</a:t>
            </a:r>
          </a:p>
        </p:txBody>
      </p:sp>
      <p:pic>
        <p:nvPicPr>
          <p:cNvPr id="7" name="Picture 2" descr="abaqus的碰撞过程模拟的图1">
            <a:extLst>
              <a:ext uri="{FF2B5EF4-FFF2-40B4-BE49-F238E27FC236}">
                <a16:creationId xmlns:a16="http://schemas.microsoft.com/office/drawing/2014/main" id="{D165C591-A5E2-73AA-CBE4-3B2C2FC0D2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282" b="10831"/>
          <a:stretch>
            <a:fillRect/>
          </a:stretch>
        </p:blipFill>
        <p:spPr bwMode="auto">
          <a:xfrm>
            <a:off x="4691873" y="1173159"/>
            <a:ext cx="4212608" cy="2315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1CC3866D-BA11-EC52-2428-F8C7292E3323}"/>
              </a:ext>
            </a:extLst>
          </p:cNvPr>
          <p:cNvSpPr txBox="1"/>
          <p:nvPr/>
        </p:nvSpPr>
        <p:spPr>
          <a:xfrm>
            <a:off x="5564849" y="3460067"/>
            <a:ext cx="2512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ABAQUS</a:t>
            </a:r>
            <a:r>
              <a:rPr lang="zh-TW" altLang="en-US" dirty="0"/>
              <a:t>動態模擬撞擊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5A114A71-A7E7-B0E0-1637-96FC3D4A41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150" y="1600320"/>
            <a:ext cx="3812930" cy="2291925"/>
          </a:xfrm>
          <a:prstGeom prst="rect">
            <a:avLst/>
          </a:prstGeom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F154725C-7418-F81B-63C4-C76DC0B634C6}"/>
              </a:ext>
            </a:extLst>
          </p:cNvPr>
          <p:cNvSpPr txBox="1"/>
          <p:nvPr/>
        </p:nvSpPr>
        <p:spPr>
          <a:xfrm>
            <a:off x="541842" y="1646784"/>
            <a:ext cx="1818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ANSYS</a:t>
            </a:r>
            <a:r>
              <a:rPr lang="zh-TW" altLang="en-US" dirty="0"/>
              <a:t>應力模擬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3081219-AB47-5E4C-407B-73B7F385EE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35"/>
          <a:stretch>
            <a:fillRect/>
          </a:stretch>
        </p:blipFill>
        <p:spPr bwMode="auto">
          <a:xfrm>
            <a:off x="5123921" y="4052204"/>
            <a:ext cx="3376161" cy="2315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文字方塊 20">
            <a:extLst>
              <a:ext uri="{FF2B5EF4-FFF2-40B4-BE49-F238E27FC236}">
                <a16:creationId xmlns:a16="http://schemas.microsoft.com/office/drawing/2014/main" id="{72E2236C-F883-5209-2833-DF750C94D2BD}"/>
              </a:ext>
            </a:extLst>
          </p:cNvPr>
          <p:cNvSpPr txBox="1"/>
          <p:nvPr/>
        </p:nvSpPr>
        <p:spPr>
          <a:xfrm>
            <a:off x="6348057" y="6283111"/>
            <a:ext cx="12570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AutoCAD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55818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81192" y="1702326"/>
            <a:ext cx="2780569" cy="2088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792480" y="188640"/>
            <a:ext cx="8321040" cy="1371600"/>
          </a:xfrm>
        </p:spPr>
        <p:txBody>
          <a:bodyPr/>
          <a:lstStyle/>
          <a:p>
            <a:r>
              <a:rPr lang="en-US" altLang="zh-TW" sz="36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7.</a:t>
            </a:r>
            <a:r>
              <a:rPr lang="zh-TW" altLang="en-US" sz="36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 論文</a:t>
            </a:r>
            <a:r>
              <a:rPr lang="en-US" altLang="zh-TW" sz="36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-</a:t>
            </a:r>
            <a:r>
              <a:rPr lang="zh-TW" altLang="en-US" sz="36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微幫浦系統</a:t>
            </a:r>
            <a:endParaRPr lang="en-US" altLang="ja-JP" sz="3600"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6FFCC-53DA-4D25-9176-FA10DDF99F2F}" type="slidenum">
              <a:rPr lang="ja-JP" altLang="en-US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pPr/>
              <a:t>8</a:t>
            </a:fld>
            <a:endParaRPr lang="en-US" altLang="ja-JP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7" name="文字方塊 6"/>
          <p:cNvSpPr txBox="1"/>
          <p:nvPr/>
        </p:nvSpPr>
        <p:spPr>
          <a:xfrm>
            <a:off x="4215019" y="1344914"/>
            <a:ext cx="1521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B.</a:t>
            </a:r>
            <a:r>
              <a:rPr lang="zh-TW" altLang="en-US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微晶片製作</a:t>
            </a:r>
          </a:p>
        </p:txBody>
      </p:sp>
      <p:sp>
        <p:nvSpPr>
          <p:cNvPr id="8" name="文字方塊 7"/>
          <p:cNvSpPr txBox="1"/>
          <p:nvPr/>
        </p:nvSpPr>
        <p:spPr>
          <a:xfrm>
            <a:off x="6681192" y="1340230"/>
            <a:ext cx="12891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C.</a:t>
            </a:r>
            <a:r>
              <a:rPr lang="zh-TW" altLang="en-US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量測流率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672940" y="3967988"/>
            <a:ext cx="2780570" cy="2081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01121268-015F-3E42-C711-42E1025A59F1}"/>
              </a:ext>
            </a:extLst>
          </p:cNvPr>
          <p:cNvSpPr txBox="1"/>
          <p:nvPr/>
        </p:nvSpPr>
        <p:spPr>
          <a:xfrm>
            <a:off x="436446" y="1332994"/>
            <a:ext cx="3340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A.</a:t>
            </a:r>
            <a:r>
              <a:rPr lang="zh-TW" altLang="en-US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微流體晶片流場模擬</a:t>
            </a:r>
            <a:r>
              <a:rPr lang="en-US" altLang="zh-TW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-COMSOL</a:t>
            </a:r>
            <a:endParaRPr lang="zh-TW" altLang="en-US" dirty="0"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pic>
        <p:nvPicPr>
          <p:cNvPr id="3" name="圖片 17" descr="C:\Users\Administrator\Desktop\實驗照片&amp;影片\水平式微幫浦\SEM\0714\Image6.jpg">
            <a:extLst>
              <a:ext uri="{FF2B5EF4-FFF2-40B4-BE49-F238E27FC236}">
                <a16:creationId xmlns:a16="http://schemas.microsoft.com/office/drawing/2014/main" id="{19720B19-0436-13D3-F905-BE3992FB59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205550" y="1702326"/>
            <a:ext cx="2272247" cy="2088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圖片 5" descr="C:\Users\Administrator\Desktop\實驗照片&amp;影片\垂直式微幫浦\SEM\1354.jpg">
            <a:extLst>
              <a:ext uri="{FF2B5EF4-FFF2-40B4-BE49-F238E27FC236}">
                <a16:creationId xmlns:a16="http://schemas.microsoft.com/office/drawing/2014/main" id="{52C22439-961B-B77E-BC58-5C9F184D53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lum contrast="20000"/>
          </a:blip>
          <a:srcRect/>
          <a:stretch>
            <a:fillRect/>
          </a:stretch>
        </p:blipFill>
        <p:spPr bwMode="auto">
          <a:xfrm>
            <a:off x="4215019" y="3973176"/>
            <a:ext cx="2272247" cy="20762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20D63FC7-AA4B-57AB-1CA9-44142FEA6C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796" y="3783322"/>
            <a:ext cx="2705478" cy="1476581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035DC11C-E7BA-1C83-6B58-842E08C3D50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303" y="2290040"/>
            <a:ext cx="3616710" cy="1231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416034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肥皂">
  <a:themeElements>
    <a:clrScheme name="肥皂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肥皂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肥皂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TM02900720[[fn=要素]]</Template>
  <TotalTime>2042</TotalTime>
  <Words>1003</Words>
  <Application>Microsoft Office PowerPoint</Application>
  <PresentationFormat>A4 紙張 (210x297 公釐)</PresentationFormat>
  <Paragraphs>109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8</vt:i4>
      </vt:variant>
    </vt:vector>
  </HeadingPairs>
  <TitlesOfParts>
    <vt:vector size="17" baseType="lpstr">
      <vt:lpstr>Arial</vt:lpstr>
      <vt:lpstr>Calibri</vt:lpstr>
      <vt:lpstr>Calibri Light</vt:lpstr>
      <vt:lpstr>Century Gothic</vt:lpstr>
      <vt:lpstr>Garamond</vt:lpstr>
      <vt:lpstr>Times New Roman</vt:lpstr>
      <vt:lpstr>Wingdings 2</vt:lpstr>
      <vt:lpstr>HDOfficeLightV0</vt:lpstr>
      <vt:lpstr>肥皂</vt:lpstr>
      <vt:lpstr>個人簡歷與作品集</vt:lpstr>
      <vt:lpstr>1. 個人簡歷</vt:lpstr>
      <vt:lpstr>2. Git/GitHub</vt:lpstr>
      <vt:lpstr>3.Python/MySQL/FastAPI</vt:lpstr>
      <vt:lpstr>4.Streamlit</vt:lpstr>
      <vt:lpstr>5.Pro/E(Creo)</vt:lpstr>
      <vt:lpstr>6.ANSYS、ABAQUS、AutoCAD</vt:lpstr>
      <vt:lpstr>7. 論文-微幫浦系統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作品集</dc:title>
  <dc:creator>AriaSonata</dc:creator>
  <cp:lastModifiedBy>元獅 廖</cp:lastModifiedBy>
  <cp:revision>260</cp:revision>
  <dcterms:created xsi:type="dcterms:W3CDTF">2014-10-28T00:56:10Z</dcterms:created>
  <dcterms:modified xsi:type="dcterms:W3CDTF">2026-03-11T08:00:46Z</dcterms:modified>
</cp:coreProperties>
</file>